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DD9B9D-4C2C-41DF-94B2-364D08583853}" v="5" dt="2026-02-12T16:35:43.8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23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phen Vick" userId="99dc7658-3394-4e05-ab24-e54acbcd3580" providerId="ADAL" clId="{1D87F1B4-C7D2-4EAF-B81F-2C8682EE732A}"/>
    <pc:docChg chg="modSld">
      <pc:chgData name="Stephen Vick" userId="99dc7658-3394-4e05-ab24-e54acbcd3580" providerId="ADAL" clId="{1D87F1B4-C7D2-4EAF-B81F-2C8682EE732A}" dt="2026-02-12T16:35:43.844" v="54" actId="1076"/>
      <pc:docMkLst>
        <pc:docMk/>
      </pc:docMkLst>
      <pc:sldChg chg="addSp delSp modSp mod">
        <pc:chgData name="Stephen Vick" userId="99dc7658-3394-4e05-ab24-e54acbcd3580" providerId="ADAL" clId="{1D87F1B4-C7D2-4EAF-B81F-2C8682EE732A}" dt="2026-02-12T16:35:43.844" v="54" actId="1076"/>
        <pc:sldMkLst>
          <pc:docMk/>
          <pc:sldMk cId="0" sldId="256"/>
        </pc:sldMkLst>
        <pc:spChg chg="del mod">
          <ac:chgData name="Stephen Vick" userId="99dc7658-3394-4e05-ab24-e54acbcd3580" providerId="ADAL" clId="{1D87F1B4-C7D2-4EAF-B81F-2C8682EE732A}" dt="2026-02-12T16:35:20.494" v="51"/>
          <ac:spMkLst>
            <pc:docMk/>
            <pc:sldMk cId="0" sldId="256"/>
            <ac:spMk id="6" creationId="{00000000-0000-0000-0000-000000000000}"/>
          </ac:spMkLst>
        </pc:spChg>
        <pc:picChg chg="add mod">
          <ac:chgData name="Stephen Vick" userId="99dc7658-3394-4e05-ab24-e54acbcd3580" providerId="ADAL" clId="{1D87F1B4-C7D2-4EAF-B81F-2C8682EE732A}" dt="2026-02-12T16:35:43.844" v="54" actId="1076"/>
          <ac:picMkLst>
            <pc:docMk/>
            <pc:sldMk cId="0" sldId="256"/>
            <ac:picMk id="1026" creationId="{37E11451-19AD-1BC1-7F30-54DED5E6E2E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7135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0:00–0:30 (Stephen)</a:t>
            </a:r>
          </a:p>
          <a:p>
            <a:r>
              <a:t>- “We built a browser-based Among Us-style Skeld and embedded a real stewardship interaction as a game task.”</a:t>
            </a:r>
          </a:p>
          <a:p>
            <a:r>
              <a:t>- “This is a concept demo: a friendly, lightweight way to make stewardship more approachable while producing measurable quality signals.”</a:t>
            </a:r>
          </a:p>
          <a:p>
            <a:r>
              <a:t>- “Quick baton pass: Darias will demo the Fix Wires task (2 minutes), then I’ll come back to explain the model and metrics.”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0:30–1:20 (Stephen)</a:t>
            </a:r>
          </a:p>
          <a:p>
            <a:r>
              <a:t>- “We kept scope to what’s demoable in 10 minutes: one world, one task, and the metrics model.”</a:t>
            </a:r>
          </a:p>
          <a:p>
            <a:r>
              <a:t>- “The key idea is organizationally friendly: keep the underlying governance the same, but improve the experience so stewards are more likely to engage carefully.”</a:t>
            </a:r>
          </a:p>
          <a:p>
            <a:r>
              <a:t>- “Now Darias will show the task itself.”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1:20–3:20 (Darias drives; Stephen silent)</a:t>
            </a:r>
          </a:p>
          <a:p>
            <a:r>
              <a:t>- Darias runs the mini-game end-to-end.</a:t>
            </a:r>
          </a:p>
          <a:p>
            <a:r>
              <a:t>- Suggested beats (keep tight):</a:t>
            </a:r>
          </a:p>
          <a:p>
            <a:r>
              <a:t>  1) Walk to Electrical</a:t>
            </a:r>
          </a:p>
          <a:p>
            <a:r>
              <a:t>  2) Open the panel</a:t>
            </a:r>
          </a:p>
          <a:p>
            <a:r>
              <a:t>  3) Make one intentional mistake to show feedback</a:t>
            </a:r>
          </a:p>
          <a:p>
            <a:r>
              <a:t>  4) Fix it, complete task</a:t>
            </a:r>
          </a:p>
          <a:p>
            <a:r>
              <a:t>- Hand back: “That’s the task—Stephen will explain why this matters and how we measure it.”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3:20–6:30 (Stephen)</a:t>
            </a:r>
          </a:p>
          <a:p>
            <a:r>
              <a:t>- “The point isn’t that games replace governance—it’s that games can wrap governance with deliberate interaction + measurement.”</a:t>
            </a:r>
          </a:p>
          <a:p>
            <a:r>
              <a:t>- “We’re not claiming every org has an engagement crisis; we’re showing a method that can *increase engagement and improve quality* in a low-friction, org-friendly way.”</a:t>
            </a:r>
          </a:p>
          <a:p>
            <a:r>
              <a:t>- “The win is measurement: accuracy, retries, and time-to-complete become signals for coaching and review prioritization.”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6:30–10:00 (Stephen)</a:t>
            </a:r>
          </a:p>
          <a:p>
            <a:r>
              <a:t>- “In ten minutes we showed: a world, a task, and a measurement model.”</a:t>
            </a:r>
          </a:p>
          <a:p>
            <a:r>
              <a:t>- “We believe this can make stewardship more approachable and can improve decision quality by making each action deliberate and measurable.”</a:t>
            </a:r>
          </a:p>
          <a:p>
            <a:r>
              <a:t>- “Happy to talk through integration options and which stewardship tasks map best to which mini-games.”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FFFFF"/>
                </a:solidFill>
              </a:rPr>
              <a:t>Emergency Meeting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6304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D2DCEB"/>
                </a:solidFill>
              </a:rPr>
              <a:t>Gamifying Data Stewardship (Hackathon 2026 Demo)</a:t>
            </a:r>
          </a:p>
        </p:txBody>
      </p:sp>
      <p:pic>
        <p:nvPicPr>
          <p:cNvPr id="4" name="Picture 3" descr="profise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6035040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31720" y="6062472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AAB9D2"/>
                </a:solidFill>
              </a:rPr>
              <a:t>x</a:t>
            </a:r>
          </a:p>
        </p:txBody>
      </p:sp>
      <p:pic>
        <p:nvPicPr>
          <p:cNvPr id="7" name="Picture 6" descr="crewm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0" y="731520"/>
            <a:ext cx="4143329" cy="53949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2331720"/>
            <a:ext cx="5120640" cy="502920"/>
          </a:xfrm>
          <a:prstGeom prst="roundRect">
            <a:avLst/>
          </a:prstGeom>
          <a:solidFill>
            <a:srgbClr val="1A2234"/>
          </a:solidFill>
          <a:ln>
            <a:solidFill>
              <a:srgbClr val="505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EBF0FA"/>
                </a:solidFill>
              </a:rPr>
              <a:t>Team: Stephen Vick + Darias Brown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7E11451-19AD-1BC1-7F30-54DED5E6E2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8134" y="5922608"/>
            <a:ext cx="785241" cy="727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What we’re demonstrating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577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BF0FA"/>
                </a:solidFill>
              </a:rPr>
              <a:t>A playful UI wrapper around real stewardship work</a:t>
            </a:r>
          </a:p>
          <a:p>
            <a:pPr>
              <a:defRPr sz="1800">
                <a:solidFill>
                  <a:srgbClr val="EBF0FA"/>
                </a:solidFill>
              </a:defRPr>
            </a:pPr>
            <a:r>
              <a:t>A navigable Skeld-style map (WASD + collisions + room HUD)</a:t>
            </a:r>
          </a:p>
          <a:p>
            <a:pPr>
              <a:defRPr sz="1800">
                <a:solidFill>
                  <a:srgbClr val="EBF0FA"/>
                </a:solidFill>
              </a:defRPr>
            </a:pPr>
            <a:r>
              <a:t>Rooms represent domains (Electrical = patient matching today)</a:t>
            </a:r>
          </a:p>
          <a:p>
            <a:pPr>
              <a:defRPr sz="1800">
                <a:solidFill>
                  <a:srgbClr val="EBF0FA"/>
                </a:solidFill>
              </a:defRPr>
            </a:pPr>
            <a:r>
              <a:t>Tasks are deliberate interactions—not one-click approvals</a:t>
            </a:r>
          </a:p>
          <a:p>
            <a:pPr>
              <a:defRPr sz="1800">
                <a:solidFill>
                  <a:srgbClr val="EBF0FA"/>
                </a:solidFill>
              </a:defRPr>
            </a:pPr>
            <a:r>
              <a:t>Immediate feedback creates learning + auditability signals</a:t>
            </a:r>
          </a:p>
        </p:txBody>
      </p:sp>
      <p:pic>
        <p:nvPicPr>
          <p:cNvPr id="4" name="Picture 3" descr="skeld_ma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417320"/>
            <a:ext cx="5394960" cy="303196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5989320"/>
            <a:ext cx="10789920" cy="548640"/>
          </a:xfrm>
          <a:prstGeom prst="roundRect">
            <a:avLst/>
          </a:prstGeom>
          <a:solidFill>
            <a:srgbClr val="182032"/>
          </a:solidFill>
          <a:ln>
            <a:solidFill>
              <a:srgbClr val="505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E6EBF5"/>
                </a:solidFill>
              </a:rPr>
              <a:t>10-minute scope: 1 world + 1 task + 1 metrics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Live demo (2 minutes): Fix Wires = Field-to-Value Matching</a:t>
            </a:r>
          </a:p>
        </p:txBody>
      </p:sp>
      <p:pic>
        <p:nvPicPr>
          <p:cNvPr id="3" name="Picture 2" descr="wires_tas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17320"/>
            <a:ext cx="6583680" cy="37344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35240" y="1463040"/>
            <a:ext cx="4297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BF0FA"/>
                </a:solidFill>
              </a:rPr>
              <a:t>What to watch for</a:t>
            </a:r>
          </a:p>
          <a:p>
            <a:pPr>
              <a:defRPr sz="1600">
                <a:solidFill>
                  <a:srgbClr val="EBF0FA"/>
                </a:solidFill>
              </a:defRPr>
            </a:pPr>
            <a:r>
              <a:t>Deliberate mapping: each field must be matched to the right value</a:t>
            </a:r>
          </a:p>
          <a:p>
            <a:pPr>
              <a:defRPr sz="1600">
                <a:solidFill>
                  <a:srgbClr val="EBF0FA"/>
                </a:solidFill>
              </a:defRPr>
            </a:pPr>
            <a:r>
              <a:t>Wrong match → immediate feedback → retry (captures learning signal)</a:t>
            </a:r>
          </a:p>
          <a:p>
            <a:pPr>
              <a:defRPr sz="1600">
                <a:solidFill>
                  <a:srgbClr val="EBF0FA"/>
                </a:solidFill>
              </a:defRPr>
            </a:pPr>
            <a:r>
              <a:t>Correct completion → “Task Complete” + time-to-complete metric</a:t>
            </a:r>
          </a:p>
          <a:p>
            <a:pPr>
              <a:defRPr sz="1600">
                <a:solidFill>
                  <a:srgbClr val="EBF0FA"/>
                </a:solidFill>
              </a:defRPr>
            </a:pPr>
            <a:r>
              <a:t>Everything is attributable to the steward identity (player)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989320"/>
            <a:ext cx="10972800" cy="548640"/>
          </a:xfrm>
          <a:prstGeom prst="roundRect">
            <a:avLst/>
          </a:prstGeom>
          <a:solidFill>
            <a:srgbClr val="182032"/>
          </a:solidFill>
          <a:ln>
            <a:solidFill>
              <a:srgbClr val="505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E6EBF5"/>
                </a:solidFill>
              </a:rPr>
              <a:t>Baton: Darias drives now → Stephen resumes after completion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Why this matters: game mechanics produce quality signals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BF0FA"/>
                </a:solidFill>
              </a:rPr>
              <a:t>Per-steward (player) signals</a:t>
            </a:r>
          </a:p>
          <a:p>
            <a:pPr>
              <a:defRPr sz="1800">
                <a:solidFill>
                  <a:srgbClr val="EBF0FA"/>
                </a:solidFill>
              </a:defRPr>
            </a:pPr>
            <a:r>
              <a:t>First-attempt accuracy (right vs wrong)</a:t>
            </a:r>
          </a:p>
          <a:p>
            <a:pPr>
              <a:defRPr sz="1800">
                <a:solidFill>
                  <a:srgbClr val="EBF0FA"/>
                </a:solidFill>
              </a:defRPr>
            </a:pPr>
            <a:r>
              <a:t>Retry count (learning signal)</a:t>
            </a:r>
          </a:p>
          <a:p>
            <a:pPr>
              <a:defRPr sz="1800">
                <a:solidFill>
                  <a:srgbClr val="EBF0FA"/>
                </a:solidFill>
              </a:defRPr>
            </a:pPr>
            <a:r>
              <a:t>Time-to-complete (velocity / friction)</a:t>
            </a:r>
          </a:p>
          <a:p>
            <a:pPr>
              <a:defRPr sz="1800">
                <a:solidFill>
                  <a:srgbClr val="EBF0FA"/>
                </a:solidFill>
              </a:defRPr>
            </a:pPr>
            <a:r>
              <a:t>Streaks / consistency over sessions</a:t>
            </a:r>
          </a:p>
          <a:p>
            <a:pPr>
              <a:defRPr sz="1800">
                <a:solidFill>
                  <a:srgbClr val="EBF0FA"/>
                </a:solidFill>
              </a:defRPr>
            </a:pPr>
            <a:r>
              <a:t>Domain breakdown by room (patient / customer / product)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463040"/>
            <a:ext cx="49377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BF0FA"/>
                </a:solidFill>
              </a:rPr>
              <a:t>Operationally friendly outcomes</a:t>
            </a:r>
          </a:p>
          <a:p>
            <a:pPr>
              <a:defRPr sz="1800">
                <a:solidFill>
                  <a:srgbClr val="EBF0FA"/>
                </a:solidFill>
              </a:defRPr>
            </a:pPr>
            <a:r>
              <a:t>More observable decision-making (less “rubber stamping”)</a:t>
            </a:r>
          </a:p>
          <a:p>
            <a:pPr>
              <a:defRPr sz="1800">
                <a:solidFill>
                  <a:srgbClr val="EBF0FA"/>
                </a:solidFill>
              </a:defRPr>
            </a:pPr>
            <a:r>
              <a:t>Risk-based review: focus oversight where confidence is low</a:t>
            </a:r>
          </a:p>
          <a:p>
            <a:pPr>
              <a:defRPr sz="1800">
                <a:solidFill>
                  <a:srgbClr val="EBF0FA"/>
                </a:solidFill>
              </a:defRPr>
            </a:pPr>
            <a:r>
              <a:t>Training feedback loop: retries decline as proficiency increases</a:t>
            </a:r>
          </a:p>
          <a:p>
            <a:pPr>
              <a:defRPr sz="1800">
                <a:solidFill>
                  <a:srgbClr val="EBF0FA"/>
                </a:solidFill>
              </a:defRPr>
            </a:pPr>
            <a:r>
              <a:t>Recognition: spotlight strong stewards with trust scores</a:t>
            </a:r>
          </a:p>
          <a:p>
            <a:pPr>
              <a:defRPr sz="1800">
                <a:solidFill>
                  <a:srgbClr val="EBF0FA"/>
                </a:solidFill>
              </a:defRPr>
            </a:pPr>
            <a:r>
              <a:t>Integration-ready: tasks can call the same MDM rules/APIs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Next steps (post-hackathon) +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EBF0FA"/>
                </a:solidFill>
              </a:rPr>
              <a:t>Where this goes next</a:t>
            </a:r>
          </a:p>
          <a:p>
            <a:pPr>
              <a:defRPr sz="1800">
                <a:solidFill>
                  <a:srgbClr val="EBF0FA"/>
                </a:solidFill>
              </a:defRPr>
            </a:pPr>
            <a:r>
              <a:t>More rooms → more stewardship tasks (merge/split, golden record, address standardization)</a:t>
            </a:r>
          </a:p>
          <a:p>
            <a:pPr>
              <a:defRPr sz="1800">
                <a:solidFill>
                  <a:srgbClr val="EBF0FA"/>
                </a:solidFill>
              </a:defRPr>
            </a:pPr>
            <a:r>
              <a:t>Leaderboards + team challenges (opt-in, department-friendly)</a:t>
            </a:r>
          </a:p>
          <a:p>
            <a:pPr>
              <a:defRPr sz="1800">
                <a:solidFill>
                  <a:srgbClr val="EBF0FA"/>
                </a:solidFill>
              </a:defRPr>
            </a:pPr>
            <a:r>
              <a:t>Adaptive difficulty (harder cases for high-confidence stewards)</a:t>
            </a:r>
          </a:p>
          <a:p>
            <a:pPr>
              <a:defRPr sz="1800">
                <a:solidFill>
                  <a:srgbClr val="EBF0FA"/>
                </a:solidFill>
              </a:defRPr>
            </a:pPr>
            <a:r>
              <a:t>Reviewer dashboard powered by trust + exceptions</a:t>
            </a:r>
          </a:p>
          <a:p>
            <a:pPr>
              <a:defRPr sz="1800">
                <a:solidFill>
                  <a:srgbClr val="EBF0FA"/>
                </a:solidFill>
              </a:defRPr>
            </a:pPr>
            <a:r>
              <a:t>Direct integration: Profisee matching/survivorship APIs behind tasks</a:t>
            </a:r>
          </a:p>
        </p:txBody>
      </p:sp>
      <p:pic>
        <p:nvPicPr>
          <p:cNvPr id="4" name="Picture 3" descr="skeld_ma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1600200"/>
            <a:ext cx="4480560" cy="2518075"/>
          </a:xfrm>
          <a:prstGeom prst="rect">
            <a:avLst/>
          </a:prstGeom>
        </p:spPr>
      </p:pic>
      <p:pic>
        <p:nvPicPr>
          <p:cNvPr id="5" name="Picture 4" descr="crewm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0" y="5120640"/>
            <a:ext cx="1123615" cy="14630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5989320"/>
            <a:ext cx="10972800" cy="548640"/>
          </a:xfrm>
          <a:prstGeom prst="roundRect">
            <a:avLst/>
          </a:prstGeom>
          <a:solidFill>
            <a:srgbClr val="182032"/>
          </a:solidFill>
          <a:ln>
            <a:solidFill>
              <a:srgbClr val="505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E6EBF5"/>
                </a:solidFill>
              </a:rPr>
              <a:t>Thank you —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672</Words>
  <Application>Microsoft Office PowerPoint</Application>
  <PresentationFormat>Widescreen</PresentationFormat>
  <Paragraphs>63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Stephen Vick</cp:lastModifiedBy>
  <cp:revision>1</cp:revision>
  <dcterms:created xsi:type="dcterms:W3CDTF">2013-01-27T09:14:16Z</dcterms:created>
  <dcterms:modified xsi:type="dcterms:W3CDTF">2026-02-12T16:35:44Z</dcterms:modified>
  <cp:category/>
</cp:coreProperties>
</file>